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itter"/>
      <p:regular r:id="rId201314"/>
    </p:embeddedFont>
    <p:embeddedFont>
      <p:font typeface="Bitter Medium"/>
      <p:regular r:id="rId201315"/>
    </p:embeddedFont>
    <p:embeddedFont>
      <p:font typeface="Bitter Bold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  <p:embeddedFont>
      <p:font typeface="Open Sans Medium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112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350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product categories — exploring spending patterns, customer segments, membership types, and satisfaction levels to guide strategic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34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112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66566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spc="-14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350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22649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Purchases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635177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transactions analyzed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366566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spc="-14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11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322649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Columns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3635177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Features per record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366566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spc="-14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322649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Missing Values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3635177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Satisfaction Level — removed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150221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34558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Demographics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754265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Age, Gender, City, Membership Type, Satisfaction Level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347359" y="4150221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2716" y="434558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Purchase Details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4542716" y="4754265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Item Purchased, Total Spend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33244" y="4150221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8600" y="434558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Shopping Behavior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8228600" y="4754265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Discount Applied, Days Since Last Purchase, Average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784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spc="-106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Preparation in Python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429246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226134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58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Standardize &amp; Load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378978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58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Remove Nulls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378978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58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Inspect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378978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58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Load Data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490766"/>
            <a:ext cx="10868745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loading the dataset with pandas, 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were used to inspect structure and summary statistics. Two null values in the Satisfaction Level column were identified and the records removed. Columns were renamed to snake_case for consistency, then the cleaned DataFrame was loaded into PostgreSQL for SQL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SQL Analysis: Revenue &amp; Order Value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2709366"/>
            <a:ext cx="365413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28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Membership Revenue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2904232"/>
            <a:ext cx="365413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 compared across Gold, Silver, and Bronze membership tiers to identify which segments drive the most value.</a:t>
            </a:r>
            <a:endParaRPr lang="en-US" sz="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2538" y="939006"/>
            <a:ext cx="6983932" cy="395763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5055890"/>
            <a:ext cx="6983932" cy="39576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82336" y="6826250"/>
            <a:ext cx="365413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28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Average Order Value by City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882336" y="7021116"/>
            <a:ext cx="365413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Identified average order value for each city to reveal geographic spending differences and regional purchasing behavior.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SQL Analysis: Satisfaction Insights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2709366"/>
            <a:ext cx="365413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28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Are Bronze Members More Unsatisfied?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2904232"/>
            <a:ext cx="365413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Compared satisfaction levels across Gold, Silver, and Bronze tiers to test whether Bronze members show significantly higher dissatisfaction rates.</a:t>
            </a:r>
            <a:endParaRPr lang="en-US" sz="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2538" y="939006"/>
            <a:ext cx="6983932" cy="395763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5055890"/>
            <a:ext cx="6983932" cy="39576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82336" y="6826250"/>
            <a:ext cx="365413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28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Average Satisfaction by City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882336" y="7021116"/>
            <a:ext cx="365413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San Francisco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leads with the highest average satisfaction level. City-level analysis reveals significant geographic variation in customer sentiment.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5262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112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SQL Analysis: Segmentation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26741"/>
            <a:ext cx="6296860" cy="17447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7479" y="2241153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Gender Preference by Membership &amp; City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977479" y="2649835"/>
            <a:ext cx="576644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Member counts segmented by gender, city, and membership type reveal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extreme regional demographic splits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e.g., Bronze in Chicago/Houston is 100% Female; Gold in SF is 100% Male.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960515"/>
            <a:ext cx="6296860" cy="17447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7479" y="4174927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Discount Impact on Satisfaction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77479" y="4583609"/>
            <a:ext cx="576644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100% of unsatisfied customers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received discounts — used as reactive compensation. Discounts do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not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improve sentiment; Neutral customers received zero discounts.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112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Spending &amp; Volume by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935758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30–39: The Volume Engine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2420045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age group dominates overall value, generating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highest total revenue ($192k+)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volume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(2,725 items)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all segments.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32251" y="3818731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20–29: Highest Individual Value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32251" y="4303018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Despite lower volume, this cohort has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highest average spend per customer at $1,072.18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16.3 items per customer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signaling strong willingness to spend per capita.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3831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112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Power BI Dashboard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1243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interactive Power BI dashboard was built to present all insights visually — consolidating revenue, satisfaction, segmentation, and demographic findings into a single, explorable view for stakeholders.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369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112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Recommendations: Discounts &amp; Demographics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05621"/>
            <a:ext cx="5339820" cy="2015430"/>
          </a:xfrm>
          <a:prstGeom prst="roundRect">
            <a:avLst>
              <a:gd name="adj" fmla="val 3939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100983"/>
            <a:ext cx="494910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Revamp Discount Policy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516015"/>
            <a:ext cx="494910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Stop using discounts as reactive compensation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100% of unsatisfied customers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received them with no sentiment improvement. Shift to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proactive rewards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satisfied tiers and investigate root causes of dissatisfaction.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905621"/>
            <a:ext cx="5339919" cy="2015430"/>
          </a:xfrm>
          <a:prstGeom prst="roundRect">
            <a:avLst>
              <a:gd name="adj" fmla="val 3939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3100983"/>
            <a:ext cx="494920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👥</a:t>
            </a:r>
            <a:pPr algn="l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Gender-Tailored Regional Campaigns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3516015"/>
            <a:ext cx="49492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Membership data shows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extreme gender splits by city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Target females in Chicago/Houston with Bronze-to-Gold upsell campaigns; design male-centric campaigns for West Coast markets (SF Gold, LA Silver).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75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112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Recommendations: Age &amp; Geography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06179"/>
            <a:ext cx="5339820" cy="2614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9605" y="273466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3387626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Differentiate by Age Cohort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796308"/>
            <a:ext cx="491100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30–39: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Deploy volume-driven loyalty programs and cross-selling bundles.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20–29: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Focus on premium product positioning and high-tier memberships to leverage their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$1,072 avg spend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606179"/>
            <a:ext cx="5339919" cy="2614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8530" y="273466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4708" y="3387626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5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Replicate the SF &amp; NY Service Model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04708" y="3796308"/>
            <a:ext cx="491110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 Francisco &amp; New York lead with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3.00 avg satisfaction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; Miami &amp; Chicago lag 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1.00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Audit fulfillment and shipping in top cities, then replicate best practices in lagging markets.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2026-08-31T15:45:58Z</dcterms:created>
  <dcterms:modified xsi:type="dcterms:W3CDTF">2026-08-31T15:45:58Z</dcterms:modified>
</cp:coreProperties>
</file>